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8"/>
    <p:sldId id="268" r:id="rId19"/>
    <p:sldId id="269" r:id="rId20"/>
    <p:sldId id="270" r:id="rId21"/>
    <p:sldId id="271" r:id="rId22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72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73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STAJ PROJESİ  /  DERİN ÖĞRENME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Çöp Sınıflandırma Projesi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6118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CNN, MobileNetV2 ve YOLOv8-cls Modellerinin Google Colab Üzerinde Adil Şekilde Karşılaştırılması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75808" y="4160520"/>
            <a:ext cx="64008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4348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4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AMAÇ VE KAPSAM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Amaç ve Kapsam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Projenin temel hedefleri, kullanılan veri seti ve çalışma kapsamı.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Amaç ve Kapsam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45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BİRİNCİL AMAÇ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Görüntü işleme ve derin öğrenme tekniklerini kullanarak atık malzemeleri (plastik, kağıt, pil, cam, organik, metal) yüksek doğrulukla otomatik sınıflandırabilecek en verimli modeli keşfetmek.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45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 &amp; ÇERÇEVE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205740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üzerinden sağlanan 6 sınıflı dengeli veri seti kullanılarak; sıfırdan CNN, MobileNetV2 (Transfer Learning) ve YOLOv8-cls modelleri Google Colab ortamında eğitilip aynı test setinde performans karşılaştırmasına tabi tutulacaktır.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ÖNEMLİ NOT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3891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aslında bir nesne tespiti (object detection) modelidir; ama bu veri setinde kutu etiketi yok, sadece sınıf etiketi var. Bu yüzden YOLO'nun sınıflandırma modu (yolov8/11n-cls) kullanılacak — böylece üç model aynı problemi çözer ve karşılaştırma adil olur.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Çöp Sınıflandırma Projesi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4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VERİ SETİ &amp; HAZIRLIK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Seti ve Hazırlık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veri seti detayları, veri ayrımı ve Google Colab çalışma ortamı.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Seti (Garbage Classification)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45389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9844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– Garbage Classification (6 </a:t>
            </a:r>
            <a:r>
              <a:rPr lang="en-US" sz="135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</a:t>
            </a:r>
            <a:r>
              <a:rPr lang="en-US" sz="135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2082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653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Sınıflar: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Plastik, Kağıt, Pil, Cam, Organik, Metal.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58775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3230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Dağılım: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3252 train, 696 validation, 702 test görüntüsü (yaklaşık %70/15/15).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9923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 İşleme: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görseller 224×224 RGB formatına boyutlandırılmış ve normalize edilmiştir.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72160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661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Augmentation: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Döndürme, çevirme gibi tekniklerle veri çeşitlendirilecek; amaç overfitting'i azaltmak.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057400"/>
            <a:ext cx="18288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0" y="251460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98080" y="3429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98080" y="3886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498080" y="4343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4892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892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KRİTİK KURAL:  </a:t>
            </a:r>
            <a:r>
              <a:rPr lang="en-US" sz="12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ayrımı (train/validation/test) bir kez yapılır ve her üç model de aynı ayrımı kullanır. Aksi halde model karşılaştırması geçersiz olur.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Çöp Sınıflandırma Projesi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46" name="Resim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96" y="907943"/>
            <a:ext cx="4791444" cy="3524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MODEL MİMARİLERİ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Kullanılacak Modeller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Projede uygulanacak ve karşılaştırılacak üç farklı derin öğrenme yaklaşımı.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Kullanılacak Modeller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627632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BASELINE CNN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2084832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Conv2D, MaxPooling ve Dense katmanlarından oluşan, sıfırdan (3-4 katmanlı) eğitilen temel model. Referans skor sağlamak amacıyla kurulur.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3749040"/>
            <a:ext cx="2990088" cy="9144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886200"/>
            <a:ext cx="2990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Amaç yüksek skor değil — temel eğitim döngüsünü ve overfitting'i yaşayarak anlamak.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6552" y="137160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627632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MOBILENETV2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72584" y="2084832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ön eğitilmiş ağırlıklarıyla Transfer Learning uygulanan, hafif ve hızlı mimari. Önce yalnızca son katman eğitilir, sonra istenirse fine-tuning yapılır.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72584" y="3749040"/>
            <a:ext cx="2990088" cy="9144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3886200"/>
            <a:ext cx="2990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sorusu: Skor neden CNN'e göre bu kadar arttı? Transfer learning burada ne sağladı?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37160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627632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300" b="1" dirty="0" smtClean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</a:t>
            </a:r>
            <a:r>
              <a:rPr lang="tr-TR" sz="1300" b="1" dirty="0" smtClean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TABANLI SINIFLANDIRMA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49056" y="2084832"/>
            <a:ext cx="2990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kütüphanesi ile eğitilen modern sınıflandırma modeli (yolov8n-cls). En yüksek başarıyı ve düşük çıkarım süresini hedefler.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49056" y="3749040"/>
            <a:ext cx="2990088" cy="9144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7" name="Text 15"/>
          <p:cNvSpPr/>
          <p:nvPr/>
        </p:nvSpPr>
        <p:spPr>
          <a:xfrm>
            <a:off x="8449056" y="3886200"/>
            <a:ext cx="29900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Ders: Hazır framework'ler işi kolaylaştırır; ama içeride ne olduğunu bilmek yine de önemlidir.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Çöp Sınıflandırma Projesi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PROJE PLANI &amp; DEĞERLENDİRME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Planı ve Değerlendirme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Çalışmanın altı aşaması, zaman çizelgesi ve karşılaştırma yöntemi.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26"/>
            <a:ext cx="12192000" cy="65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3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D91"/>
                </a:solidFill>
                <a:latin typeface="Aptos"/>
              </a:rPr>
              <a:t>04 / TAKVİM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86384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B41"/>
                </a:solidFill>
                <a:latin typeface="Aptos"/>
              </a:rPr>
              <a:t>Zaman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1795760" cy="22860"/>
          </a:xfrm>
          <a:prstGeom prst="rect">
            <a:avLst/>
          </a:prstGeom>
          <a:solidFill>
            <a:srgbClr val="12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88920" y="1719072"/>
            <a:ext cx="1298448" cy="50292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B9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88920" y="1865376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B41"/>
                </a:solidFill>
                <a:latin typeface="Aptos"/>
              </a:rPr>
              <a:t>Pazartesi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719072"/>
            <a:ext cx="1298448" cy="50292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B9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51960" y="1865376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B41"/>
                </a:solidFill>
                <a:latin typeface="Aptos"/>
              </a:rPr>
              <a:t>Salı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719072"/>
            <a:ext cx="1298448" cy="50292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B9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0" y="1865376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B41"/>
                </a:solidFill>
                <a:latin typeface="Aptos"/>
              </a:rPr>
              <a:t>Çarşamba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719072"/>
            <a:ext cx="1298448" cy="50292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B9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1865376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B41"/>
                </a:solidFill>
                <a:latin typeface="Aptos"/>
              </a:rPr>
              <a:t>Perşembe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719072"/>
            <a:ext cx="1298448" cy="502920"/>
          </a:xfrm>
          <a:prstGeom prst="roundRect">
            <a:avLst/>
          </a:prstGeom>
          <a:solidFill>
            <a:srgbClr val="EFFAF8"/>
          </a:solidFill>
          <a:ln w="10160">
            <a:solidFill>
              <a:srgbClr val="B9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1865376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B41"/>
                </a:solidFill>
                <a:latin typeface="Aptos"/>
              </a:rPr>
              <a:t>Cuma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96896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B41"/>
                </a:solidFill>
                <a:latin typeface="Aptos"/>
              </a:rPr>
              <a:t>1. Adım: Analiz &amp; İş Anlama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578608"/>
            <a:ext cx="1298448" cy="457200"/>
          </a:xfrm>
          <a:prstGeom prst="roundRect">
            <a:avLst/>
          </a:prstGeom>
          <a:solidFill>
            <a:srgbClr val="67DEB3"/>
          </a:solidFill>
          <a:ln w="10160">
            <a:solidFill>
              <a:srgbClr val="67DE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328416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B41"/>
                </a:solidFill>
                <a:latin typeface="Aptos"/>
              </a:rPr>
              <a:t>2. Adım: Veri Temizleme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310128"/>
            <a:ext cx="1298448" cy="457200"/>
          </a:xfrm>
          <a:prstGeom prst="roundRect">
            <a:avLst/>
          </a:prstGeom>
          <a:solidFill>
            <a:srgbClr val="67DEB3"/>
          </a:solidFill>
          <a:ln w="10160">
            <a:solidFill>
              <a:srgbClr val="67DE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059935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B41"/>
                </a:solidFill>
                <a:latin typeface="Aptos"/>
              </a:rPr>
              <a:t>3. Adım: Modelin Eğitimi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4041648"/>
            <a:ext cx="1298448" cy="457200"/>
          </a:xfrm>
          <a:prstGeom prst="roundRect">
            <a:avLst/>
          </a:prstGeom>
          <a:solidFill>
            <a:srgbClr val="67DEB3"/>
          </a:solidFill>
          <a:ln w="10160">
            <a:solidFill>
              <a:srgbClr val="67DE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4791455"/>
            <a:ext cx="19019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B41"/>
                </a:solidFill>
                <a:latin typeface="Aptos"/>
              </a:rPr>
              <a:t>4. Adım: Model Karşılaştırma ve Değerlendirme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4773168"/>
            <a:ext cx="2761488" cy="457200"/>
          </a:xfrm>
          <a:prstGeom prst="roundRect">
            <a:avLst/>
          </a:prstGeom>
          <a:solidFill>
            <a:srgbClr val="67DEB3"/>
          </a:solidFill>
          <a:ln w="10160">
            <a:solidFill>
              <a:srgbClr val="67DE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5522975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B41"/>
                </a:solidFill>
                <a:latin typeface="Aptos"/>
              </a:rPr>
              <a:t>5. Adım: Dokümantasyon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5504688"/>
            <a:ext cx="1298448" cy="457200"/>
          </a:xfrm>
          <a:prstGeom prst="roundRect">
            <a:avLst/>
          </a:prstGeom>
          <a:solidFill>
            <a:srgbClr val="67DEB3"/>
          </a:solidFill>
          <a:ln w="10160">
            <a:solidFill>
              <a:srgbClr val="67DE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9037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D91AE"/>
                </a:solidFill>
                <a:latin typeface="Aptos"/>
              </a:rPr>
              <a:t>Çöp Sınıflandırma Projesi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15800" y="690372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D91A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" y="3005211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3800" dirty="0" smtClean="0">
                <a:solidFill>
                  <a:schemeClr val="bg1"/>
                </a:solidFill>
              </a:rPr>
              <a:t>Teşekkürler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05" y="3399986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775808" y="3977640"/>
            <a:ext cx="640080" cy="3200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10304585" y="6365631"/>
            <a:ext cx="240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>
                <a:solidFill>
                  <a:schemeClr val="bg1"/>
                </a:solidFill>
              </a:rPr>
              <a:t>Beyza Çolaklar</a:t>
            </a:r>
            <a:endParaRPr lang="tr-TR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5EEAD4"/>
                </a:solidFill>
                <a:latin typeface="Arial"/>
              </a:rPr>
              <a:t>05 / SONUÇLAR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Sonuçlar ve Model Karşılaştırması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40"/>
            <a:ext cx="9448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9D9CF"/>
                </a:solidFill>
                <a:latin typeface="Arial"/>
              </a:rPr>
              <a:t>Üç modelin aynı test setinde accuracy, sınıf bazlı metrikler ve pratik performans (boyut, hız) açısından karşılaştırılması.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Arial"/>
              </a:rPr>
              <a:t>Genel Karşılaştırma ve Sınıf Bazlı F1-Skorları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00000"/>
          <a:ext cx="10698480" cy="185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00000"/>
                <a:gridCol w="1500000"/>
                <a:gridCol w="1300000"/>
                <a:gridCol w="1600000"/>
                <a:gridCol w="4298480"/>
              </a:tblGrid>
              <a:tr h="4625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Model Adı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Doğruluk (Accuracy)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Boyut (MB)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Çıkarım Süresi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Kısa Teknik Yorum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Basit CNN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~%39.29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~2.5 MB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90.12 ms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Arial"/>
                        </a:rPr>
                        <a:t>Sıfırdan eğitildiği için karmaşık özellikleri öğrenemedi, yetersiz kaldı.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MobileNetV2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~%77.78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14.2 MB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216.58 ms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Arial"/>
                        </a:rPr>
                        <a:t>Transfer learning avantajıyla başarıyı artırdı, ancak hızı biraz yavaş.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D9488"/>
                          </a:solidFill>
                          <a:latin typeface="Arial"/>
                        </a:rPr>
                        <a:t>YOLOv8-cls (Şampiyon)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D9488"/>
                          </a:solidFill>
                          <a:latin typeface="Arial"/>
                        </a:rPr>
                        <a:t>%80+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6.2 MB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Arial"/>
                        </a:rPr>
                        <a:t>24.71 ms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Arial"/>
                        </a:rPr>
                        <a:t>En yüksek doğruluk ve milisaniyeler mertebesinde hız ile zirvede yer aldı.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280000"/>
          <a:ext cx="10698480" cy="194999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98480"/>
                <a:gridCol w="2666666"/>
                <a:gridCol w="2666666"/>
                <a:gridCol w="2666668"/>
              </a:tblGrid>
              <a:tr h="27857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Sınıf (F1-Skoru)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Basit CNN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MobileNetV2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YOLOv8-cls</a:t>
                      </a:r>
                    </a:p>
                  </a:txBody>
                  <a:tcPr marL="137160" marR="137160" marT="45720" marB="45720" anchor="ctr">
                    <a:solidFill>
                      <a:srgbClr val="0D9488"/>
                    </a:solidFill>
                  </a:tcPr>
                </a:tc>
              </a:tr>
              <a:tr h="27857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Arial"/>
                        </a:rPr>
                        <a:t>Cardboard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0.54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D9488"/>
                          </a:solidFill>
                          <a:latin typeface="Arial"/>
                        </a:rPr>
                        <a:t>0.97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27857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Arial"/>
                        </a:rPr>
                        <a:t>Glass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0.34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0.74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D9488"/>
                          </a:solidFill>
                          <a:latin typeface="Arial"/>
                        </a:rPr>
                        <a:t>0.93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</a:tr>
              <a:tr h="27857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Arial"/>
                        </a:rPr>
                        <a:t>Metal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0.03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0.78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D9488"/>
                          </a:solidFill>
                          <a:latin typeface="Arial"/>
                        </a:rPr>
                        <a:t>0.91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27857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0.88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D9488"/>
                          </a:solidFill>
                          <a:latin typeface="Arial"/>
                        </a:rPr>
                        <a:t>0.96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</a:tr>
              <a:tr h="27857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Arial"/>
                        </a:rPr>
                        <a:t>Plastic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0.43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0.73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D9488"/>
                          </a:solidFill>
                          <a:latin typeface="Arial"/>
                        </a:rPr>
                        <a:t>0.92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27857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Arial"/>
                        </a:rPr>
                        <a:t>Trash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0.08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Arial"/>
                        </a:rPr>
                        <a:t>0.49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D9488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 marL="137160" marR="137160" marT="45720" marB="45720" anchor="ctr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60000"/>
            <a:ext cx="1069848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75569"/>
                </a:solidFill>
                <a:latin typeface="Arial"/>
              </a:rPr>
              <a:t>Zirve Noktası: YOLOv8-cls, hafif gövdesi ve yüksek özellik çıkarım gücüyle her sınıfta en yüksek F1-skoruna ulaşmıştır. (YOLOv8-cls sütunu doğrulama confusion matrix'inden hesaplanmıştır; diğer değerler 702 görüntülük test seti classification report çıktısındandır.)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8B8"/>
                </a:solidFill>
                <a:latin typeface="Arial"/>
              </a:rPr>
              <a:t>Çöp Sınıflandırma Projesi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8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Arial"/>
              </a:rPr>
              <a:t>Basit CNN ve MobileNetV2 – Karışıklık Matrisi Karşılaştırması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90000"/>
            <a:ext cx="51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Arial"/>
              </a:rPr>
              <a:t>Basit CNN  ·  Accuracy: %39.29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50000"/>
            <a:ext cx="5100000" cy="26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94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n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905" y="1370000"/>
            <a:ext cx="3556349" cy="24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40080" y="990000"/>
            <a:ext cx="5100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Arial"/>
              </a:rPr>
              <a:t>MobileNetV2  ·  Accuracy: %77.78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40080" y="1250000"/>
            <a:ext cx="5100000" cy="26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94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net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425" y="1370000"/>
            <a:ext cx="3345309" cy="241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4160000"/>
            <a:ext cx="10698480" cy="17500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400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D9488"/>
                </a:solidFill>
                <a:latin typeface="Arial"/>
              </a:rPr>
              <a:t>Karşılaştırmalı Analiz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00"/>
            <a:ext cx="100584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Arial"/>
              </a:rPr>
              <a:t>Basit CNN, sığ katman yapısı nedeniyle sınıfları ayırt edemedi; kağıt ve plastik sınıflarında yoğun yığılmalar oluştu ve metal sınıfı neredeyse hiç öğrenilemedi (recall %2). MobileNetV2 ise ImageNet ön ağırlıklarıyla doğruluğu %77.78'e taşıdı; köşegen üzerindeki doğru tahminler belirgin arttı (paper: 165, glass: 113), yalnızca cam-plastik yansımalarında hafif karışma ve az örnekli trash sınıfında (F1 %49) zayıflık gözlendi.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8B8"/>
                </a:solidFill>
                <a:latin typeface="Arial"/>
              </a:rPr>
              <a:t>Çöp Sınıflandırma Projesi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8B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Arial"/>
              </a:rPr>
              <a:t>YOLOv8-cls ve Cam-Plastik Karışım Analizi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450000" cy="47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94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ol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80" y="2170440"/>
            <a:ext cx="5090000" cy="310231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0000" y="1371600"/>
            <a:ext cx="5038480" cy="47000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0000" y="1650000"/>
            <a:ext cx="4400000" cy="4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 i="0">
                <a:solidFill>
                  <a:srgbClr val="0D9488"/>
                </a:solidFill>
                <a:latin typeface="Arial"/>
              </a:rPr>
              <a:t>Neden Cam ve Plastik Karışıyor?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1" i="0">
                <a:solidFill>
                  <a:srgbClr val="1E293B"/>
                </a:solidFill>
                <a:latin typeface="Arial"/>
              </a:rPr>
              <a:t>Optik Benzerlik: </a:t>
            </a:r>
            <a:r>
              <a:rPr sz="1200" b="0" i="0">
                <a:solidFill>
                  <a:srgbClr val="475569"/>
                </a:solidFill>
                <a:latin typeface="Arial"/>
              </a:rPr>
              <a:t>Şeffaf PET şişeler ve cam şişeler ışık altında benzer parlama ve silindirik form gösterir; doğrulama setinde 3 cam görüntüsü plastiğe, 3 plastik görüntü de cam/metale karışmıştır.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1" i="0">
                <a:solidFill>
                  <a:srgbClr val="1E293B"/>
                </a:solidFill>
                <a:latin typeface="Arial"/>
              </a:rPr>
              <a:t>Çözünürlük Etkisi: </a:t>
            </a:r>
            <a:r>
              <a:rPr sz="1200" b="0" i="0">
                <a:solidFill>
                  <a:srgbClr val="475569"/>
                </a:solidFill>
                <a:latin typeface="Arial"/>
              </a:rPr>
              <a:t>Görsellerin 224×224 piksele küçültülmesi dokusal detay kayıplarına yol açmaktadır.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1" i="0">
                <a:solidFill>
                  <a:srgbClr val="1E293B"/>
                </a:solidFill>
                <a:latin typeface="Arial"/>
              </a:rPr>
              <a:t>Tesis Önerisi: </a:t>
            </a:r>
            <a:r>
              <a:rPr sz="1200" b="0" i="0">
                <a:solidFill>
                  <a:srgbClr val="475569"/>
                </a:solidFill>
                <a:latin typeface="Arial"/>
              </a:rPr>
              <a:t>Gerçek zamanlı bant akışında 6.2 MB'lık boyutu ve ~24.71 ms hızıyla YOLOv8-cls, tesiste kullanım için en kusursuz tercihtir.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8B8"/>
                </a:solidFill>
                <a:latin typeface="Arial"/>
              </a:rPr>
              <a:t>Çöp Sınıflandırma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8B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Arial"/>
              </a:rPr>
              <a:t>Sonuç ve Model Önerisi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32960" cy="23500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2792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DOĞRULUK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792880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Arial"/>
              </a:rPr>
              <a:t>YOLOv8-cls %80'in üzerindeki doğrulukla açık ara önde; MobileNetV2 %77.78 ile ikinci, sıfırdan eğitilen Basit CNN ise %39.29 ile yetersiz kalmıştır.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3040" y="1371600"/>
            <a:ext cx="3432960" cy="23500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3080" y="1645920"/>
            <a:ext cx="2792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HIZ (ÇIKARIM SÜRESİ)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3080" y="2057400"/>
            <a:ext cx="2792880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Arial"/>
              </a:rPr>
              <a:t>YOLOv8-cls görüntü başına ~24.71 ms ile MobileNetV2'ye (216.58 ms) göre ~9 kat, Basit CNN'e (90.12 ms) göre 3-4 kat daha hızlıdır.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6000" y="1371600"/>
            <a:ext cx="3432960" cy="23500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6040" y="1645920"/>
            <a:ext cx="2792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BOYUT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6040" y="2057400"/>
            <a:ext cx="2792880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Arial"/>
              </a:rPr>
              <a:t>6.2 MB model boyutuyla YOLOv8-cls, 14.2 MB'lık MobileNetV2'ye göre çok daha hafiftir; gömülü/kenar (edge) cihazlara kolayca taşınabilir.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60000"/>
            <a:ext cx="10698480" cy="19000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0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ÖNERİ: GERÇEK BİR GERİ DÖNÜŞÜM TESİSİ İÇİN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53000"/>
            <a:ext cx="100584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E293B"/>
                </a:solidFill>
                <a:latin typeface="Arial"/>
              </a:rPr>
              <a:t>Yüksek doğruluk, düşük gecikme ve küçük model boyutunu bir arada sunan YOLOv8-cls, bant hızında gerçek zamanlı sınıflandırma gerektiren endüstriyel bir tesis için en uygun modeldir. MobileNetV2, daha güçlü donanıma sahip sabit istasyonlarda karşılaştırma/yedek model olarak; Basit CNN ise yalnızca eğitim amaçlı referans model olarak değerlendirilebilir.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8B8"/>
                </a:solidFill>
                <a:latin typeface="Arial"/>
              </a:rPr>
              <a:t>Çöp Sınıflandırma Projesi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8B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517</Words>
  <Application>Microsoft Office PowerPoint</Application>
  <PresentationFormat>Geniş ekran</PresentationFormat>
  <Paragraphs>71</Paragraphs>
  <Slides>11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2026-08-31T06:58:28Z</dcterms:created>
  <dcterms:modified xsi:type="dcterms:W3CDTF">2026-08-31T10:29:01Z</dcterms:modified>
</cp:coreProperties>
</file>