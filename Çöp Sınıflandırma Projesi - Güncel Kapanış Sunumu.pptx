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4707" y="381000"/>
            <a:ext cx="1068258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E0FBFC"/>
                </a:solidFill>
                <a:latin typeface="Poppins"/>
              </a:rPr>
              <a:t>Çöp Sınıflandırma Projesi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054" y="1314450"/>
            <a:ext cx="101738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E0FBFC"/>
                </a:solidFill>
                <a:latin typeface="Lato"/>
              </a:rPr>
              <a:t>CNN, MobileNetV2 ve YOLOv8-cls Modellerinin Google Colab Üzerinde Güncel ve Yüksek Doğruluklu Karşılaştırma Raporu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054" y="1866900"/>
            <a:ext cx="101738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1" sz="1500" i="0" u="none">
                <a:solidFill>
                  <a:srgbClr val="00B4D8"/>
                </a:solidFill>
                <a:latin typeface="Lato"/>
              </a:rPr>
              <a:t>STAJ PROJESİ / DERİN ÖĞRENME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064371"/>
            <a:ext cx="5476875" cy="210085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3064371"/>
            <a:ext cx="5476875" cy="2100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3418582"/>
            <a:ext cx="5230653" cy="333375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Birincil Amaç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4018657"/>
            <a:ext cx="49815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Görüntü işleme ve derin öğrenme tekniklerini kullanarak atık malzemeleri (karton, cam, metal, kağıt, plastik, çöp) optimize edilmiş veri havuzunda yüksek doğrulukla otomatik sınıflandırabilecek en verimli modeli keşfetmek.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6525" y="3312021"/>
            <a:ext cx="5230653" cy="333375"/>
          </a:xfrm>
          <a:prstGeom prst="rect">
            <a:avLst/>
          </a:prstGeom>
          <a:noFill/>
        </p:spPr>
        <p:txBody>
          <a:bodyPr wrap="square" lIns="352425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Kapsam ve Yöntem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3912096"/>
            <a:ext cx="4981575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Kaggle Garbage Classification veri setiyle; sıfırdan CNN, Transfer Learning destekli MobileNetV2 ve YOLOv8-cls modelleri aynı ortak veri seti bölmesi üzerinde adil şekilde eğitilip yüksek performans skorlarıyla karşılaştırılmıştır.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46620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359646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01 / AMAÇ VE KAPSAM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Amaç ve Kapsam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89944"/>
            <a:ext cx="3587799" cy="24495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74" y="2889944"/>
            <a:ext cx="3587799" cy="2449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889944"/>
            <a:ext cx="3587799" cy="2449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3699569"/>
            <a:ext cx="324712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Ortak Veri Havuzu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299644"/>
            <a:ext cx="309249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Tüm modeller (YOLO, CNN, MobileNetV2) veri sızıntısını önlemek için birebir aynı train, validation ve test klasör yapısıyla beslenmiştir.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9824" y="3699569"/>
            <a:ext cx="324712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Boyutlandırma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9824" y="4299644"/>
            <a:ext cx="309249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Görseller standart derin öğrenme formatına uygun olarak yeniden boyutlandırılmış ve normalize edilmiştir.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749" y="3699569"/>
            <a:ext cx="324712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Data Augmentation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4299644"/>
            <a:ext cx="309249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Model genelleme yeteneğini artırmak için döndürme, kaydırma ve yatay çevirme teknikleri aktif uygulanmıştır.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85219"/>
            <a:ext cx="3048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824" y="3185219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749" y="3185219"/>
            <a:ext cx="3429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02 / VERİ SETİ &amp; HAZIRLIK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Veri Seti ve Ön İşleme Süreçleri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89944"/>
            <a:ext cx="3587799" cy="24495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74" y="2889944"/>
            <a:ext cx="3587799" cy="2449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889944"/>
            <a:ext cx="3587799" cy="2449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3699569"/>
            <a:ext cx="324712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1. Basit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299644"/>
            <a:ext cx="309249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Sıfırdan eğitilen sığ mimari. Ortak veri havuzu optimizasyonu ile başarı oranı %61.36 seviyesine yükseltilmiştir.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9824" y="3699569"/>
            <a:ext cx="324712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2. MobileNetV2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9824" y="4299644"/>
            <a:ext cx="309249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ImageNet ön ağırlıklarıyla Transfer Learning uygulanan hafif mimari. Güncel eğitimle yüksek başarıya ulaştı (%84.53 doğruluk).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749" y="3699569"/>
            <a:ext cx="324712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3. YOLOv8-cls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4299644"/>
            <a:ext cx="309249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B0C4DE"/>
                </a:solidFill>
                <a:latin typeface="Lato"/>
              </a:rPr>
              <a:t>Ultralytics kütüphanesi ile optimize edilen modern sınıflandırma modeli. %92.6 doğruluk oranı ile zirveye ulaştı.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85219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824" y="3185219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749" y="3185219"/>
            <a:ext cx="3429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03 / MODEL MİMARİLERİ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Kullanılan Modeller ve Yaklaşımlar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6250" y="2638425"/>
            <a:ext cx="11239500" cy="2952750"/>
          </a:xfrm>
          <a:prstGeom prst="roundRect">
            <a:avLst>
              <a:gd name="adj" fmla="val 0"/>
            </a:avLst>
          </a:prstGeom>
          <a:solidFill>
            <a:srgbClr val="1B2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76250" y="2638425"/>
          <a:ext cx="11229972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930550"/>
                <a:gridCol w="2358181"/>
                <a:gridCol w="2358181"/>
                <a:gridCol w="258306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0FBFC"/>
                          </a:solidFill>
                          <a:latin typeface="Poppins"/>
                        </a:rPr>
                        <a:t>Faaliyet / Adım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0FBFC"/>
                          </a:solidFill>
                          <a:latin typeface="Poppins"/>
                        </a:rPr>
                        <a:t>Perşembe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0FBFC"/>
                          </a:solidFill>
                          <a:latin typeface="Poppins"/>
                        </a:rPr>
                        <a:t>Cuma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0FBFC"/>
                          </a:solidFill>
                          <a:latin typeface="Poppins"/>
                        </a:rPr>
                        <a:t>Pazartesi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49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1. Adım: Analiz &amp; İş Anlama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2. Adım: Veri Temizleme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3. Adım: Modelin Eğitimi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4. Adım: Model Karşılaştırma ve Değerlendirme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5. Adım: Dokümantasyon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87775" y="3295650"/>
            <a:ext cx="1203424" cy="209550"/>
          </a:xfrm>
          <a:prstGeom prst="roundRect">
            <a:avLst>
              <a:gd name="adj" fmla="val 18181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5957" y="3781425"/>
            <a:ext cx="1604516" cy="209550"/>
          </a:xfrm>
          <a:prstGeom prst="roundRect">
            <a:avLst>
              <a:gd name="adj" fmla="val 18181"/>
            </a:avLst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04139" y="4267200"/>
            <a:ext cx="2007542" cy="209550"/>
          </a:xfrm>
          <a:prstGeom prst="roundRect">
            <a:avLst>
              <a:gd name="adj" fmla="val 18181"/>
            </a:avLst>
          </a:prstGeom>
          <a:solidFill>
            <a:srgbClr val="48C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5957" y="4752975"/>
            <a:ext cx="2005756" cy="209550"/>
          </a:xfrm>
          <a:prstGeom prst="roundRect">
            <a:avLst>
              <a:gd name="adj" fmla="val 18181"/>
            </a:avLst>
          </a:prstGeom>
          <a:solidFill>
            <a:srgbClr val="90E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04139" y="5238750"/>
            <a:ext cx="2230635" cy="209550"/>
          </a:xfrm>
          <a:prstGeom prst="roundRect">
            <a:avLst>
              <a:gd name="adj" fmla="val 18181"/>
            </a:avLst>
          </a:prstGeom>
          <a:solidFill>
            <a:srgbClr val="F72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02 / TAKVİM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Zaman Planı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646015"/>
            <a:ext cx="11239500" cy="2333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122515"/>
            <a:ext cx="11239500" cy="4609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5775" y="2655540"/>
          <a:ext cx="11220447" cy="2314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50987"/>
                <a:gridCol w="1963191"/>
                <a:gridCol w="1186011"/>
                <a:gridCol w="1470421"/>
                <a:gridCol w="4649837"/>
              </a:tblGrid>
              <a:tr h="57864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Model Adı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Doğruluk (Accuracy)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Boyut (MB)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Çıkarım Süresi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Güncel Teknik Değerlendirme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</a:tr>
              <a:tr h="57864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Basit CNN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%61.36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~2.5 MB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90.12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Ortak veri havuzu ve düzenleme ile başarı tatmin edici düzeye çıktı.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864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MobileNetV2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%84.53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14.2 MB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216.58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Transfer learning gücüyle çok yüksek doğruluk oranına ulaştı.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864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B4D8"/>
                          </a:solidFill>
                          <a:latin typeface="Lato"/>
                        </a:rPr>
                        <a:t>YOLOv8-cls (Şampiyon)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B4D8"/>
                          </a:solidFill>
                          <a:latin typeface="Lato"/>
                        </a:rPr>
                        <a:t>%92.6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3.0 MB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24.71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%92.6 top1 doğruluk ve milisaniyeler mertebesinde hız ile zirvede.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4D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275" y="5246340"/>
            <a:ext cx="1083945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0B4D8"/>
                </a:solidFill>
                <a:latin typeface="Lato"/>
              </a:rPr>
              <a:t>Başarı Güncellemesi: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YOLOv8-cls %92.6 doğruluk elde etmiş; MobileNetV2 %84.53 ve CNN %61.36 seviyelerine ulaşmıştır.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775" y="3317527"/>
            <a:ext cx="195098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36762" y="3317527"/>
            <a:ext cx="196319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99954" y="3317527"/>
            <a:ext cx="118601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85966" y="3317527"/>
            <a:ext cx="147042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6387" y="3317527"/>
            <a:ext cx="464983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5775" y="3927127"/>
            <a:ext cx="195098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6762" y="3927127"/>
            <a:ext cx="196319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9954" y="3927127"/>
            <a:ext cx="118601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85966" y="3927127"/>
            <a:ext cx="147042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6387" y="3927127"/>
            <a:ext cx="464983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775" y="4355752"/>
            <a:ext cx="195098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6762" y="4355752"/>
            <a:ext cx="196319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9954" y="4355752"/>
            <a:ext cx="118601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5966" y="4355752"/>
            <a:ext cx="1470421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6387" y="4355752"/>
            <a:ext cx="464983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05 / GÜNCEL SONUÇLAR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Güncel Metrikler ve Model Karşılaştırması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595562"/>
            <a:ext cx="11239500" cy="303847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5775" y="2605087"/>
          <a:ext cx="11220447" cy="301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32296"/>
                <a:gridCol w="1624905"/>
                <a:gridCol w="1875829"/>
                <a:gridCol w="1777603"/>
                <a:gridCol w="4709814"/>
              </a:tblGrid>
              <a:tr h="43134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Sınıf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Basit CNN (F1)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MobileNetV2 (F1)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YOLOv8-cls (F1)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0FBFC"/>
                          </a:solidFill>
                          <a:latin typeface="Poppins"/>
                        </a:rPr>
                        <a:t>Analiz / Değerlendirme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</a:tr>
              <a:tr h="43134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Cardboard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0.98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Özgün dokusu nedeniyle yüksek başarı elde edildi.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34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Glass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0.82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Şeffaflık nedeniyle plastik ile olan karışmalar azaltıldı.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34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Metal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0.42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0.81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0.93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Optimizasyon sonrası metal ayrımı başarıyla sağlandı.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34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Paper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0.91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0.97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Düzlem yapısı ve veri yoğunluğuyla en başarılı sınıflardan.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34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Plastic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0.58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0.93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Cam yansımaları optimize edilerek başarı artırıldı.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34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Trash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B0C4DE"/>
                          </a:solidFill>
                          <a:latin typeface="Lato"/>
                        </a:rPr>
                        <a:t>0.86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B0C4DE"/>
                          </a:solidFill>
                          <a:latin typeface="Lato"/>
                        </a:rPr>
                        <a:t>Az örnek sayısına rağmen skorlar gözle görülür iyileşti.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85775" y="3048000"/>
            <a:ext cx="123229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18071" y="3048000"/>
            <a:ext cx="162490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42977" y="3048000"/>
            <a:ext cx="187582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8807" y="3048000"/>
            <a:ext cx="1777603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6410" y="3048000"/>
            <a:ext cx="470981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5775" y="3476625"/>
            <a:ext cx="123229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8071" y="3476625"/>
            <a:ext cx="162490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2977" y="3476625"/>
            <a:ext cx="187582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8807" y="3476625"/>
            <a:ext cx="1777603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6410" y="3476625"/>
            <a:ext cx="470981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5775" y="3905250"/>
            <a:ext cx="123229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8071" y="3905250"/>
            <a:ext cx="162490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2977" y="3905250"/>
            <a:ext cx="187582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8807" y="3905250"/>
            <a:ext cx="1777603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6410" y="3905250"/>
            <a:ext cx="470981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5775" y="4333875"/>
            <a:ext cx="123229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8071" y="4333875"/>
            <a:ext cx="162490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42977" y="4333875"/>
            <a:ext cx="187582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8807" y="4333875"/>
            <a:ext cx="1777603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6410" y="4333875"/>
            <a:ext cx="470981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5775" y="4762500"/>
            <a:ext cx="123229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8071" y="4762500"/>
            <a:ext cx="162490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42977" y="4762500"/>
            <a:ext cx="187582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8807" y="4762500"/>
            <a:ext cx="1777603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96410" y="4762500"/>
            <a:ext cx="470981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5775" y="5191125"/>
            <a:ext cx="123229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18071" y="5191125"/>
            <a:ext cx="162490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2977" y="5191125"/>
            <a:ext cx="187582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8807" y="5191125"/>
            <a:ext cx="1777603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96410" y="5191125"/>
            <a:ext cx="470981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05 / GÜNCEL SONUÇLAR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Sınıf Bazlı F1-Skorları Karşılaştırması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962150"/>
            <a:ext cx="5476875" cy="4305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62150"/>
            <a:ext cx="5476875" cy="430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" y="2209800"/>
            <a:ext cx="45720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6525" y="2870150"/>
            <a:ext cx="523065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Güncel İyileştirme Sonucu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6525" y="3470225"/>
            <a:ext cx="49815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Güncel Accuracy: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%61.36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3988296"/>
            <a:ext cx="49815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Analiz: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Ortak veri havuzu entegrasyonu sonrasında CNN modelinin öğrenme eğrisi kararlı bir ivme yakalamış, validasyon başarısı belirgin şekilde artmıştır.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4932908"/>
            <a:ext cx="49815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Çıkarım: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Temel model, sığ yapısına rağmen doğru veri dağılımıyla beklentileri karşılamıştır.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" y="2219325"/>
            <a:ext cx="4552950" cy="3790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06 / MODEL EĞİTİM ANALİZİ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Basit CNN - Güncel Eğitim ve Başarı Eğrileri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962150"/>
            <a:ext cx="5476875" cy="4305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62150"/>
            <a:ext cx="5476875" cy="430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" y="2209800"/>
            <a:ext cx="45720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6525" y="2976711"/>
            <a:ext cx="523065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Transfer Learning Zirvesi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6525" y="3576786"/>
            <a:ext cx="49815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Güncel Accuracy: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%84.53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4094857"/>
            <a:ext cx="49815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Analiz: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ImageNet ağırlıkları ve tutarlı veri seti eşleşmesi sayesinde model %84.53 gibi yüksek bir doğruluk oranına ulaşmıştır.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4826198"/>
            <a:ext cx="49815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Sonuç: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Kararlı kayıp (loss) eğrileri ve yüksek doğruluk, modelin kararlılığını kanıtlamaktadır.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" y="2219325"/>
            <a:ext cx="4552950" cy="3790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06 / MODEL EĞİTİM ANALİZİ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MobileNetV2 - Yüksek Doğruluk ve Eğitim Sonucu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962150"/>
            <a:ext cx="5476875" cy="4305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62150"/>
            <a:ext cx="5476875" cy="430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" y="2209800"/>
            <a:ext cx="45720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6525" y="2870150"/>
            <a:ext cx="523065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0FBFC"/>
                </a:solidFill>
                <a:latin typeface="Poppins SemiBold"/>
              </a:rPr>
              <a:t>Neden YOLOv8-cls Tercih Edilmeli?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6525" y="3470225"/>
            <a:ext cx="49815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Hız ve Boyut: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3.0 MB boyutu ve ~24 ms çıkarım süresiyle gerçek zamanlı bant akışına tamamen uygundur.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4201566"/>
            <a:ext cx="49815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Doğruluk: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%92.6 sınıflandırma başarısıyla endüstriyel otomasyon için en kusursuz tercihtir.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4932908"/>
            <a:ext cx="49815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B0C4DE"/>
                </a:solidFill>
                <a:latin typeface="Lato"/>
              </a:rPr>
              <a:t>Genel Değerlendirme:</a:t>
            </a:r>
            <a:r>
              <a:rPr b="0" sz="1200" i="0" u="none">
                <a:solidFill>
                  <a:srgbClr val="B0C4DE"/>
                </a:solidFill>
                <a:latin typeface="Lato"/>
              </a:rPr>
              <a:t> Tüm modeller ortak veri kümesinde başarıyla test edilmiş ve raporlanmıştır.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" y="2219325"/>
            <a:ext cx="4552950" cy="3790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381000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00B4D8"/>
                </a:solidFill>
                <a:latin typeface="Lato"/>
              </a:rPr>
              <a:t>06 / GÜNCEL SONUÇ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E0FBFC"/>
                </a:solidFill>
                <a:latin typeface="Lato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733425"/>
            <a:ext cx="1123950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250" y="990600"/>
            <a:ext cx="117157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0FBFC"/>
                </a:solidFill>
                <a:latin typeface="Poppins"/>
              </a:rPr>
              <a:t>YOLOv8-cls ve Sistem Performans Özeti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7" y="4194720"/>
            <a:ext cx="6905625" cy="561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0753" y="2101155"/>
            <a:ext cx="3950493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E0FBFC"/>
                </a:solidFill>
                <a:latin typeface="Poppins"/>
              </a:rPr>
              <a:t>Sorularınız?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2831" y="3406080"/>
            <a:ext cx="4986188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B0C4DE"/>
                </a:solidFill>
                <a:latin typeface="Lato"/>
              </a:rPr>
              <a:t>Dinlediğiniz ve zaman ayırdığınız için teşekkür ederim.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087" y="4394745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